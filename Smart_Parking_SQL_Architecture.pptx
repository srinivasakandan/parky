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EA5E9"/>
                </a:solidFill>
              </a:defRPr>
            </a:pPr>
            <a:r>
              <a:t>SMART PARKING SYSTEM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SQL Database Architecture &amp; Data Logic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Deep-dive into DDL, DML, Table Design, Foreign Keys, Indexing &amp; Pure JDBC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Technology Stack: MySQL 8.x • Spring Boot • Pure JDBC (JdbcTemplate) • HikariCP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PARKING SYSTEM • SQL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Database Schema &amp; Table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Core Master Entities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users: Stores user credentials, hashed passwords, roles (ADMIN/OPERATOR).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vehicles: Unique vehicle numbers and type (TWO_WHEELER, FOUR_WHEELER).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parking_slots: Slot identifiers (A-01), allowed vehicle types, real-time availability.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parking_rates: Hourly pricing models per vehicle type with active status.</a:t>
            </a:r>
          </a:p>
          <a:p>
            <a:pPr>
              <a:spcBef>
                <a:spcPts val="800"/>
              </a:spcBef>
              <a:defRPr sz="1000" b="1">
                <a:solidFill>
                  <a:srgbClr val="64748B"/>
                </a:solidFill>
              </a:defRPr>
            </a:pPr>
            <a:r>
              <a:t>Code / SQL Sample: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t>users (id, email, password, role)</a:t>
            </a:r>
            <a:br/>
            <a:r>
              <a:t>vehicles (id, vehicle_number, vehicle_type)</a:t>
            </a:r>
            <a:br/>
            <a:r>
              <a:t>parking_slots (id, slot_number, status)</a:t>
            </a:r>
            <a:br/>
            <a:r>
              <a:t>parking_rates (id, vehicle_type, rate_per_hour)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Transactional &amp; Operational Entities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parking_records: Tracks real-time vehicle entry, exit, duration, status (PARKED/COMPLETED).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payments: Payment records, calculated fees, payment methods (CASH/CARD/UPI), transaction IDs.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audit_logs: System activity trail tracking operator &amp; admin actions.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anpr_records: Automatic Number Plate Recognition scan confidence and logs.</a:t>
            </a:r>
          </a:p>
          <a:p>
            <a:pPr>
              <a:spcBef>
                <a:spcPts val="800"/>
              </a:spcBef>
              <a:defRPr sz="1000" b="1">
                <a:solidFill>
                  <a:srgbClr val="64748B"/>
                </a:solidFill>
              </a:defRPr>
            </a:pPr>
            <a:r>
              <a:t>Code / SQL Sample: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t>parking_records (id, vehicle_id, slot_id, entry_time...)</a:t>
            </a:r>
            <a:br/>
            <a:r>
              <a:t>payments (id, parking_record_id, amount, transaction_id)</a:t>
            </a:r>
            <a:br/>
            <a:r>
              <a:t>audit_logs (id, user_id, action, timestamp)</a:t>
            </a:r>
            <a:br/>
            <a:r>
              <a:t>anpr_records (id, vehicle_number, confidence)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PARKING SYSTEM • SQL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DDL Logic: Database &amp; Table Creation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Schema Creation Principles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CREATE DATABASE IF NOT EXISTS: Safely provisions 'smart_parking' without throwing errors on rerun.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BIGINT AUTO_INCREMENT: High-scale primary keys, auto-generated sequentially by MySQL engine.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Data Constraints: NOT NULL prevents orphan states; UNIQUE ensures integrity on emails &amp; plate numbers.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Default Values: DEFAULT 'ACTIVE', DEFAULT CURRENT_TIMESTAMP automated at database level.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MySQL DDL Implementation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Compatible with MySQL 8.x character set utf8mb4.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Primary Key automatically indexed as Clustered Index.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UNIQUE constraint generates secondary index for fast O(1) lookup.</a:t>
            </a:r>
          </a:p>
          <a:p>
            <a:pPr>
              <a:spcBef>
                <a:spcPts val="800"/>
              </a:spcBef>
              <a:defRPr sz="1000" b="1">
                <a:solidFill>
                  <a:srgbClr val="64748B"/>
                </a:solidFill>
              </a:defRPr>
            </a:pPr>
            <a:r>
              <a:t>Code / SQL Sample: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t>CREATE TABLE IF NOT EXISTS users (</a:t>
            </a:r>
            <a:br/>
            <a:r>
              <a:t>    id BIGINT AUTO_INCREMENT PRIMARY KEY,</a:t>
            </a:r>
            <a:br/>
            <a:r>
              <a:t>    name VARCHAR(100) NOT NULL,</a:t>
            </a:r>
            <a:br/>
            <a:r>
              <a:t>    email VARCHAR(100) NOT NULL UNIQUE,</a:t>
            </a:r>
            <a:br/>
            <a:r>
              <a:t>    password VARCHAR(255) NOT NULL,</a:t>
            </a:r>
            <a:br/>
            <a:r>
              <a:t>    role VARCHAR(20) NOT NULL,</a:t>
            </a:r>
            <a:br/>
            <a:r>
              <a:t>    status VARCHAR(20) NOT NULL DEFAULT 'ACTIVE',</a:t>
            </a:r>
            <a:br/>
            <a:r>
              <a:t>    created_at DATETIME NOT NULL DEFAULT CURRENT_TIMESTAMP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PARKING SYSTEM • SQL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Relational Integrity &amp; Foreign Key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Why Foreign Keys Matter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Referential Integrity: Enforces relationships between master and child tables.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parking_records -&gt; vehicles: Ensures record links to an existing vehicle entity.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parking_records -&gt; parking_slots: Ensures parking session references a valid physical slot.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payments -&gt; parking_records: Guarantees payment strictly belongs to a specific parking session.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Foreign Key Constraints in DDL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Prevents orphan records: Cannot delete slot/vehicle with active records.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Data Consistency: Guarantees valid IDs across normalized tables.</a:t>
            </a:r>
          </a:p>
          <a:p>
            <a:pPr>
              <a:spcBef>
                <a:spcPts val="800"/>
              </a:spcBef>
              <a:defRPr sz="1000" b="1">
                <a:solidFill>
                  <a:srgbClr val="64748B"/>
                </a:solidFill>
              </a:defRPr>
            </a:pPr>
            <a:r>
              <a:t>Code / SQL Sample: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t>-- Parking Records linking Vehicle &amp; Slot</a:t>
            </a:r>
            <a:br/>
            <a:r>
              <a:t>CONSTRAINT fk_pr_vehicle </a:t>
            </a:r>
            <a:br/>
            <a:r>
              <a:t>  FOREIGN KEY (vehicle_id) REFERENCES vehicles(id),</a:t>
            </a:r>
            <a:br/>
            <a:r>
              <a:t>CONSTRAINT fk_pr_slot </a:t>
            </a:r>
            <a:br/>
            <a:r>
              <a:t>  FOREIGN KEY (slot_id) REFERENCES parking_slots(id)</a:t>
            </a:r>
            <a:br/>
            <a:br/>
            <a:r>
              <a:t>-- Payment linked to Parking Record</a:t>
            </a:r>
            <a:br/>
            <a:r>
              <a:t>CONSTRAINT fk_pay_record </a:t>
            </a:r>
            <a:br/>
            <a:r>
              <a:t>  FOREIGN KEY (parking_record_id) </a:t>
            </a:r>
            <a:br/>
            <a:r>
              <a:t>  REFERENCES parking_records(id)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PARKING SYSTEM • SQL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Performance Optimization: B-Tree Indexes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Indexing Strategy &amp; Benefits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Why Indexing: Prevents slow full-table scans (O(N)) on large historical datasets.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idx_pr_entry_time: Optimizes date-range reporting and daily dashboard filters.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idx_pr_status: Accelerates querying vehicles currently parked (WHERE status = 'PARKED').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idx_payments_paid_at: Speeds up financial aggregation, revenue reports &amp; audits.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DDL Index Commands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B-Tree index structure enables binary search in O(log N).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Essential for high-concurrency parking lots with 100,000+ records.</a:t>
            </a:r>
          </a:p>
          <a:p>
            <a:pPr>
              <a:spcBef>
                <a:spcPts val="800"/>
              </a:spcBef>
              <a:defRPr sz="1000" b="1">
                <a:solidFill>
                  <a:srgbClr val="64748B"/>
                </a:solidFill>
              </a:defRPr>
            </a:pPr>
            <a:r>
              <a:t>Code / SQL Sample: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t>-- Applied at bottom of schema-mysql.sql:</a:t>
            </a:r>
            <a:br/>
            <a:r>
              <a:t>CREATE INDEX idx_pr_entry_time </a:t>
            </a:r>
            <a:br/>
            <a:r>
              <a:t>  ON parking_records(entry_time);</a:t>
            </a:r>
            <a:br/>
            <a:br/>
            <a:r>
              <a:t>CREATE INDEX idx_pr_status </a:t>
            </a:r>
            <a:br/>
            <a:r>
              <a:t>  ON parking_records(status);</a:t>
            </a:r>
            <a:br/>
            <a:br/>
            <a:r>
              <a:t>CREATE INDEX idx_payments_paid_at </a:t>
            </a:r>
            <a:br/>
            <a:r>
              <a:t>  ON payments(paid_at);</a:t>
            </a:r>
            <a:br/>
            <a:br/>
            <a:r>
              <a:t>CREATE INDEX idx_audit_timestamp </a:t>
            </a:r>
            <a:br/>
            <a:r>
              <a:t>  ON audit_logs(timestamp);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PARKING SYSTEM • SQL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DML Logic: Data Insertion (INSERT INTO)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Insertion Mechanics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Parameterized Queries: Uses '?' placeholders to prevent SQL Injection attacks.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GeneratedKeyHolder: Captures MySQL's AUTO_INCREMENT generated ID immediately upon insert.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DataInitializer.java: Seeds initial Admin, Operator, Rates, and Slots automatically on startup.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Idempotency / Guard Checks: Validates if records exist before inserting to avoid duplicates.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Pure JDBC Insert Example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BCrypt hashing applied before user passwords inserted.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Returns auto-generated ID directly to entity.</a:t>
            </a:r>
          </a:p>
          <a:p>
            <a:pPr>
              <a:spcBef>
                <a:spcPts val="800"/>
              </a:spcBef>
              <a:defRPr sz="1000" b="1">
                <a:solidFill>
                  <a:srgbClr val="64748B"/>
                </a:solidFill>
              </a:defRPr>
            </a:pPr>
            <a:r>
              <a:t>Code / SQL Sample: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t>-- Executed via JdbcTemplate with KeyHolder</a:t>
            </a:r>
            <a:br/>
            <a:r>
              <a:t>INSERT INTO parking_records </a:t>
            </a:r>
            <a:br/>
            <a:r>
              <a:t>(vehicle_id, slot_id, entry_time, exit_time, </a:t>
            </a:r>
            <a:br/>
            <a:r>
              <a:t> duration_minutes, parking_fee, status, created_at) </a:t>
            </a:r>
            <a:br/>
            <a:r>
              <a:t>VALUES (?, ?, ?, ?, ?, ?, ?, ?);</a:t>
            </a:r>
            <a:br/>
            <a:br/>
            <a:r>
              <a:t>-- Key retrieval in Java:</a:t>
            </a:r>
            <a:br/>
            <a:r>
              <a:t>PreparedStatement ps = conn.prepareStatement(</a:t>
            </a:r>
            <a:br/>
            <a:r>
              <a:t>    sql, Statement.RETURN_GENERATED_KEYS);</a:t>
            </a:r>
            <a:br/>
            <a:r>
              <a:t>keyHolder.getKey().longValue();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PARKING SYSTEM • SQL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DML Logic: Queries &amp; Multi-Table Relational JOINs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Query Design &amp; ORM Mapping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Multi-Table JOIN: Enriches parking record with Vehicle details and Slot details in a single round-trip.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RowMapper: Maps flat relational columns into object-oriented models (ParkingRecord + Vehicle + Slot).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Filtering: WHERE status = ? fetches only active parked vehicles.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Case-Insensitive Search: Uses UPPER(vehicle_number) = UPPER(?) to prevent plate mismatch.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Actual JOIN Query Used in Repository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Inner joins guarantee integrity of linked records.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Fast execution leveraging foreign key indexes.</a:t>
            </a:r>
          </a:p>
          <a:p>
            <a:pPr>
              <a:spcBef>
                <a:spcPts val="800"/>
              </a:spcBef>
              <a:defRPr sz="1000" b="1">
                <a:solidFill>
                  <a:srgbClr val="64748B"/>
                </a:solidFill>
              </a:defRPr>
            </a:pPr>
            <a:r>
              <a:t>Code / SQL Sample: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t>SELECT pr.id, pr.entry_time, pr.exit_time, </a:t>
            </a:r>
            <a:br/>
            <a:r>
              <a:t>       pr.duration_minutes, pr.parking_fee, pr.status,</a:t>
            </a:r>
            <a:br/>
            <a:r>
              <a:t>       v.id AS v_id, v.vehicle_number AS v_number,</a:t>
            </a:r>
            <a:br/>
            <a:r>
              <a:t>       ps.id AS ps_id, ps.slot_number AS ps_number</a:t>
            </a:r>
            <a:br/>
            <a:r>
              <a:t>FROM parking_records pr</a:t>
            </a:r>
            <a:br/>
            <a:r>
              <a:t>JOIN vehicles v ON pr.vehicle_id = v.id</a:t>
            </a:r>
            <a:br/>
            <a:r>
              <a:t>JOIN parking_slots ps ON pr.slot_id = ps.id</a:t>
            </a:r>
            <a:br/>
            <a:r>
              <a:t>WHERE pr.status = 'PARKED'</a:t>
            </a:r>
            <a:br/>
            <a:r>
              <a:t>ORDER BY pr.entry_time DESC;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PARKING SYSTEM • SQL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DML Logic: Updates &amp; State Transitions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State Transition Workflow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Vehicle Check-Out: When vehicle exits, exit_time, duration, and parking_fee are computed and updated.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Slot Status Sync: Changes slot from 'AVAILABLE' to 'OCCUPIED' on entry, and resets to 'AVAILABLE' on exit.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Payment Completion: Updates payment_status from 'PENDING' to 'PAID' after gateway response.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Selective Update: Only updates rows matching primary key (WHERE id = ?).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Update SQL Queries in Repositories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State values are strictly controlled via Java Enums.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Ensures slot availability reflects actual physical reality.</a:t>
            </a:r>
          </a:p>
          <a:p>
            <a:pPr>
              <a:spcBef>
                <a:spcPts val="800"/>
              </a:spcBef>
              <a:defRPr sz="1000" b="1">
                <a:solidFill>
                  <a:srgbClr val="64748B"/>
                </a:solidFill>
              </a:defRPr>
            </a:pPr>
            <a:r>
              <a:t>Code / SQL Sample: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t>-- 1. Close parking record on exit</a:t>
            </a:r>
            <a:br/>
            <a:r>
              <a:t>UPDATE parking_records </a:t>
            </a:r>
            <a:br/>
            <a:r>
              <a:t>SET exit_time = ?, </a:t>
            </a:r>
            <a:br/>
            <a:r>
              <a:t>    duration_minutes = ?, </a:t>
            </a:r>
            <a:br/>
            <a:r>
              <a:t>    parking_fee = ?, </a:t>
            </a:r>
            <a:br/>
            <a:r>
              <a:t>    status = ? </a:t>
            </a:r>
            <a:br/>
            <a:r>
              <a:t>WHERE id = ?;</a:t>
            </a:r>
            <a:br/>
            <a:br/>
            <a:r>
              <a:t>-- 2. Free up parking slot</a:t>
            </a:r>
            <a:br/>
            <a:r>
              <a:t>UPDATE parking_slots </a:t>
            </a:r>
            <a:br/>
            <a:r>
              <a:t>SET status = 'AVAILABLE' </a:t>
            </a:r>
            <a:br/>
            <a:r>
              <a:t>WHERE id = ?;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PARKING SYSTEM • SQL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DML Logic: Deletion &amp; Safety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Deletion Policies &amp; Safeguards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Targeted Delete: Strictly uses primary key ID constraint (WHERE id = ?) to prevent accidental data wipe.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Soft Deletion / Status Flags: For sensitive entities (users, rates), status='INACTIVE' is preferred over raw DELETE.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Audit Logging: Critical deletions trigger an audit record in audit_logs table for accountability.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Foreign Key Protection: MySQL prevents deleting a vehicle or slot if active parking records refer to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Delete SQL Implementations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JdbcTemplate returns affected row count (1 = success, 0 = not found).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Protects historical audit records from cascade deletion.</a:t>
            </a:r>
          </a:p>
          <a:p>
            <a:pPr>
              <a:spcBef>
                <a:spcPts val="800"/>
              </a:spcBef>
              <a:defRPr sz="1000" b="1">
                <a:solidFill>
                  <a:srgbClr val="64748B"/>
                </a:solidFill>
              </a:defRPr>
            </a:pPr>
            <a:r>
              <a:t>Code / SQL Sample: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t>-- Single Entity Deletion in Repository</a:t>
            </a:r>
            <a:br/>
            <a:r>
              <a:t>DELETE FROM parking_slots WHERE id = ?;</a:t>
            </a:r>
            <a:br/>
            <a:br/>
            <a:r>
              <a:t>DELETE FROM users WHERE id = ?;</a:t>
            </a:r>
            <a:br/>
            <a:br/>
            <a:r>
              <a:t>-- Soft Delete Alternative (Recommended for Rates/Users):</a:t>
            </a:r>
            <a:br/>
            <a:r>
              <a:t>UPDATE parking_rates </a:t>
            </a:r>
            <a:br/>
            <a:r>
              <a:t>SET status = 'INACTIVE', updated_at = NOW() </a:t>
            </a:r>
            <a:br/>
            <a:r>
              <a:t>WHERE id = ?;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PARKING SYSTEM • SQL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Analytical Queries: Aggregates &amp; Reporting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Business Intelligence Features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COUNT(1): Real-time vehicle occupancy and available slot metrics.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SUM &amp; COALESCE: Calculates total revenue while gracefully handling NULL when no payments exist.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BETWEEN Filter: Generates daily, weekly, or monthly financial &amp; occupancy analytics.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GROUP BY: Categorizes revenues by payment method (UPI, CARD, CASH) or vehicle 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Aggregate SQL Examples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COALESCE ensures 0.00 is returned instead of NULL.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Executed via jdbcTemplate.queryForObject(sql, BigDecimal.class).</a:t>
            </a:r>
          </a:p>
          <a:p>
            <a:pPr>
              <a:spcBef>
                <a:spcPts val="800"/>
              </a:spcBef>
              <a:defRPr sz="1000" b="1">
                <a:solidFill>
                  <a:srgbClr val="64748B"/>
                </a:solidFill>
              </a:defRPr>
            </a:pPr>
            <a:r>
              <a:t>Code / SQL Sample: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t>-- 1. Calculate Total Revenue Today</a:t>
            </a:r>
            <a:br/>
            <a:r>
              <a:t>SELECT COALESCE(SUM(amount), 0) </a:t>
            </a:r>
            <a:br/>
            <a:r>
              <a:t>FROM payments </a:t>
            </a:r>
            <a:br/>
            <a:r>
              <a:t>WHERE paid_at BETWEEN ? AND ? </a:t>
            </a:r>
            <a:br/>
            <a:r>
              <a:t>  AND payment_status = 'PAID';</a:t>
            </a:r>
            <a:br/>
            <a:br/>
            <a:r>
              <a:t>-- 2. Count Available Slots by Type</a:t>
            </a:r>
            <a:br/>
            <a:r>
              <a:t>SELECT vehicle_type_allowed, COUNT(1) AS free_slots </a:t>
            </a:r>
            <a:br/>
            <a:r>
              <a:t>FROM parking_slots </a:t>
            </a:r>
            <a:br/>
            <a:r>
              <a:t>WHERE status = 'AVAILABLE' </a:t>
            </a:r>
            <a:br/>
            <a:r>
              <a:t>GROUP BY vehicle_type_allowed;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PARKING SYSTEM • SQL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SQL Execution, Security &amp; Exception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Security &amp; Error Resilience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Pure JDBC Architecture: Bypasses JPA/Hibernate overhead for maximum performance and SQL clarity.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SQL Injection Defense: All variables passed through PreparedStatement parameters (?), never string concatenation.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EmptyResultDataAccessException: Handled cleanly in repositories by returning Optional.empty() instead of crashing.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Global Exception Handling: Translates low-level SQL errors into human-readable REST API responses.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Safe Execution Pattern in Java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Zero risk of SQL Injection.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Predictable return types via Java 8 Optional.</a:t>
            </a:r>
          </a:p>
          <a:p>
            <a:pPr>
              <a:spcBef>
                <a:spcPts val="800"/>
              </a:spcBef>
              <a:defRPr sz="1000" b="1">
                <a:solidFill>
                  <a:srgbClr val="64748B"/>
                </a:solidFill>
              </a:defRPr>
            </a:pPr>
            <a:r>
              <a:t>Code / SQL Sample: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t>public Optional&lt;Vehicle&gt; findByVehicleNumber(String num) {</a:t>
            </a:r>
            <a:br/>
            <a:r>
              <a:t>    String sql = "SELECT * FROM vehicles WHERE UPPER(vehicle_number) = UPPER(?)";</a:t>
            </a:r>
            <a:br/>
            <a:r>
              <a:t>    try {</a:t>
            </a:r>
            <a:br/>
            <a:r>
              <a:t>        Vehicle v = jdbcTemplate.queryForObject(sql, vehicleRowMapper, num);</a:t>
            </a:r>
            <a:br/>
            <a:r>
              <a:t>        return Optional.ofNullable(v);</a:t>
            </a:r>
            <a:br/>
            <a:r>
              <a:t>    } catch (EmptyResultDataAccessException e) {</a:t>
            </a:r>
            <a:br/>
            <a:r>
              <a:t>        return Optional.empty(); // Clean &amp; safe handling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PARKING SYSTEM • SQL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HikariCP High-Performance Connection Pool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Why HikariCP is Essential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Connection Pooling: Pre-opens and maintains reusable TCP connections to MySQL.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Minimum Idle = 5: Always maintains 5 warm connections, eliminating 3-way TCP handshake delay.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Maximum Pool Size = 10: Caps concurrent connections, protecting MySQL server from memory exhaustion.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Connection Lifecycle: Handles timeouts, health check pings, and connection recycling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Pool Configuration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Reduces query latency from ~50ms to &lt;1ms.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Ensures high-throughput parking entry/exit operations.</a:t>
            </a:r>
          </a:p>
          <a:p>
            <a:pPr>
              <a:spcBef>
                <a:spcPts val="800"/>
              </a:spcBef>
              <a:defRPr sz="1000" b="1">
                <a:solidFill>
                  <a:srgbClr val="64748B"/>
                </a:solidFill>
              </a:defRPr>
            </a:pPr>
            <a:r>
              <a:t>Code / SQL Sample: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t># application.properties Configuration:</a:t>
            </a:r>
            <a:br/>
            <a:r>
              <a:t>spring.datasource.url=jdbc:mysql://localhost:3306/smart_parking</a:t>
            </a:r>
            <a:br/>
            <a:r>
              <a:t>spring.datasource.username=root</a:t>
            </a:r>
            <a:br/>
            <a:r>
              <a:t>spring.datasource.password=********</a:t>
            </a:r>
            <a:br/>
            <a:r>
              <a:t>spring.datasource.driver-class-name=com.mysql.cj.jdbc.Driver</a:t>
            </a:r>
            <a:br/>
            <a:br/>
            <a:r>
              <a:t># HikariCP Pool Optimization:</a:t>
            </a:r>
            <a:br/>
            <a:r>
              <a:t>spring.datasource.hikari.minimum-idle=5</a:t>
            </a:r>
            <a:br/>
            <a:r>
              <a:t>spring.datasource.hikari.maximum-pool-size=10</a:t>
            </a:r>
            <a:br/>
            <a:r>
              <a:t>spring.datasource.hikari.idle-timeout=300000</a:t>
            </a:r>
            <a:br/>
            <a:r>
              <a:t>spring.datasource.hikari.connection-timeout=20000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